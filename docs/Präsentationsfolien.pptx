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7" r:id="rId9"/>
    <p:sldId id="277" r:id="rId10"/>
    <p:sldId id="275" r:id="rId11"/>
    <p:sldId id="276" r:id="rId12"/>
    <p:sldId id="268" r:id="rId13"/>
    <p:sldId id="273" r:id="rId14"/>
    <p:sldId id="269" r:id="rId15"/>
    <p:sldId id="274" r:id="rId16"/>
    <p:sldId id="270" r:id="rId17"/>
    <p:sldId id="278" r:id="rId18"/>
    <p:sldId id="265" r:id="rId19"/>
    <p:sldId id="266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68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5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89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66998-3C50-519A-B5C7-6EA22D7B3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CC7EC-18C1-C343-AAC4-DA7B7A6A5F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B662AA-1A18-6234-57C8-B68D60DFA7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C7823-9556-A0FB-E1D7-B7FBE33A92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780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0B711-0A16-6015-DFA1-5A21E3985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2DC2DB-7924-9444-0111-D5216B9A27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904B01-F323-69E9-1D08-182B5387F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19387-2ED3-C730-847A-DABC49053E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064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D754A-7D9C-E4CF-956E-CA5741565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A4FFCF-D1ED-4D15-B86F-AE204D732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F10112-66C6-4E87-8F14-F05AC06AF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376E6-75BA-2222-5E66-71E1076B1E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8208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A74A6-439D-806E-9B88-3148D469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13248E-6AE7-8C82-3D82-1F40CA9BCD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5839D9-9A95-47F3-7EF6-0A4A46DBD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4A0E2-CC81-4286-5CAD-B77DD0ED50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0073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6766560" y="-1097280"/>
            <a:ext cx="3474720" cy="3474720"/>
          </a:xfrm>
          <a:prstGeom prst="ellipse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7406640" y="-457200"/>
            <a:ext cx="2194560" cy="2194560"/>
          </a:xfrm>
          <a:prstGeom prst="ellipse">
            <a:avLst/>
          </a:prstGeom>
          <a:solidFill>
            <a:srgbClr val="18305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365760" y="3566160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65760" y="3822192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65760" y="4078224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621792" y="3566160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621792" y="3822192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621792" y="4078224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877824" y="3566160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877824" y="3822192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877824" y="4078224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1133856" y="3566160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1133856" y="3822192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1133856" y="4078224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57200" y="502920"/>
            <a:ext cx="2011680" cy="32004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57200" y="502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DHBW MOSBACH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777240" y="14401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Alert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45720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Projektarbeit · Web Services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Hohn  ·  Simon Hopfhauer  ·  Tilman Voit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54864" cy="514350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394960" cy="502920"/>
          </a:xfrm>
          <a:prstGeom prst="rect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6AE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188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Idee vorstellen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5394960" cy="502920"/>
          </a:xfrm>
          <a:prstGeom prst="rect">
            <a:avLst/>
          </a:prstGeom>
          <a:solidFill>
            <a:srgbClr val="0D1A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48640" y="181051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6AE"/>
                </a:solidFill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8105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Technologien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86584"/>
            <a:ext cx="5394960" cy="502920"/>
          </a:xfrm>
          <a:prstGeom prst="rect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548640" y="2432304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6AE"/>
                </a:solidFill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243230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Services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008376"/>
            <a:ext cx="5394960" cy="502920"/>
          </a:xfrm>
          <a:prstGeom prst="rect">
            <a:avLst/>
          </a:prstGeom>
          <a:solidFill>
            <a:srgbClr val="0D1A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48640" y="3054096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6AE"/>
                </a:solidFill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305409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Architektur &amp; Implementierung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630168"/>
            <a:ext cx="5394960" cy="502920"/>
          </a:xfrm>
          <a:prstGeom prst="rect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548640" y="367588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6AE"/>
                </a:solidFill>
              </a:rPr>
              <a:t>05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36758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Live Demo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5394960" cy="502920"/>
          </a:xfrm>
          <a:prstGeom prst="rect">
            <a:avLst/>
          </a:prstGeom>
          <a:solidFill>
            <a:srgbClr val="0D1A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6AE"/>
                </a:solidFill>
              </a:rPr>
              <a:t>06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4297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Lessons Learned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2103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E3A6E"/>
                </a:solidFill>
              </a:rPr>
              <a:t>2026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6400800" y="3017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6FA5"/>
                </a:solidFill>
              </a:rPr>
              <a:t>Projektarbeit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6FA5"/>
                </a:solidFill>
              </a:rPr>
              <a:t>Web Services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502920" cy="347472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Idee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Aktien abonnieren. Kurse verfolgen. Alerts erhalten.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2606040" cy="5486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</a:rPr>
              <a:t>Abonnieren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33832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/>
              <a:t>Aktien per Name oder Symbol </a:t>
            </a:r>
            <a:r>
              <a:rPr lang="en-US" sz="1200" dirty="0" err="1"/>
              <a:t>suchen</a:t>
            </a:r>
            <a:r>
              <a:rPr lang="en-US" sz="1200" dirty="0"/>
              <a:t> und </a:t>
            </a:r>
            <a:r>
              <a:rPr lang="en-US" sz="1200" dirty="0" err="1"/>
              <a:t>abonnieren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210312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3200400" y="2103120"/>
            <a:ext cx="2606040" cy="5486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3291840" y="22402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💹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291840" y="2926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</a:rPr>
              <a:t>Kurse abrufen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37560" y="33832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/>
              <a:t>Aktuelle Preise in Echtzeit inklusive Währungsumrechnung</a:t>
            </a:r>
          </a:p>
        </p:txBody>
      </p:sp>
      <p:sp>
        <p:nvSpPr>
          <p:cNvPr id="18" name="Shape 16"/>
          <p:cNvSpPr/>
          <p:nvPr/>
        </p:nvSpPr>
        <p:spPr>
          <a:xfrm>
            <a:off x="6035040" y="210312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6035040" y="2103120"/>
            <a:ext cx="2606040" cy="5486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6126480" y="22402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🔔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126480" y="2926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</a:rPr>
              <a:t>Alerts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72200" y="33832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err="1"/>
              <a:t>Automatische</a:t>
            </a:r>
            <a:r>
              <a:rPr lang="en-US" sz="1200" dirty="0"/>
              <a:t> </a:t>
            </a:r>
            <a:r>
              <a:rPr lang="en-US" sz="1200" dirty="0" err="1"/>
              <a:t>Benachrichtigung</a:t>
            </a:r>
            <a:r>
              <a:rPr lang="en-US" sz="1200" dirty="0"/>
              <a:t> </a:t>
            </a:r>
            <a:r>
              <a:rPr lang="en-US" sz="1200" dirty="0" err="1"/>
              <a:t>durch</a:t>
            </a:r>
            <a:r>
              <a:rPr lang="en-US" sz="1200" dirty="0"/>
              <a:t> </a:t>
            </a:r>
            <a:r>
              <a:rPr lang="en-US" sz="1200" dirty="0" err="1"/>
              <a:t>gesetzte</a:t>
            </a:r>
            <a:r>
              <a:rPr lang="en-US" sz="1200" dirty="0"/>
              <a:t> </a:t>
            </a:r>
            <a:r>
              <a:rPr lang="en-US" sz="1200" dirty="0" err="1"/>
              <a:t>Schwellenwerte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502920" cy="347472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Idee · Ziel &amp; Prinzip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64008" cy="347472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</a:rPr>
              <a:t>Ziel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2332328"/>
            <a:ext cx="3566160" cy="1490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1400" dirty="0" err="1"/>
              <a:t>Einfache</a:t>
            </a:r>
            <a:r>
              <a:rPr lang="en-US" sz="1400" dirty="0"/>
              <a:t> </a:t>
            </a:r>
            <a:r>
              <a:rPr lang="en-US" sz="1400" dirty="0" err="1"/>
              <a:t>Plattform</a:t>
            </a:r>
            <a:r>
              <a:rPr lang="en-US" sz="1400" dirty="0"/>
              <a:t> </a:t>
            </a:r>
            <a:r>
              <a:rPr lang="en-US" sz="1400" dirty="0" err="1"/>
              <a:t>zur</a:t>
            </a:r>
            <a:r>
              <a:rPr lang="en-US" sz="1400" dirty="0"/>
              <a:t> </a:t>
            </a:r>
            <a:r>
              <a:rPr lang="en-US" sz="1400" dirty="0" err="1"/>
              <a:t>Verfolgung</a:t>
            </a:r>
            <a:r>
              <a:rPr lang="en-US" sz="1400" dirty="0"/>
              <a:t> von </a:t>
            </a:r>
            <a:r>
              <a:rPr lang="en-US" sz="1400" dirty="0" err="1"/>
              <a:t>Aktien</a:t>
            </a:r>
            <a:endParaRPr lang="en-US" sz="1400" dirty="0"/>
          </a:p>
          <a:p>
            <a:r>
              <a:rPr lang="en-US" sz="1400" dirty="0">
                <a:solidFill>
                  <a:srgbClr val="64748B"/>
                </a:solidFill>
              </a:rPr>
              <a:t> </a:t>
            </a:r>
            <a:endParaRPr lang="en-US" sz="1400" dirty="0"/>
          </a:p>
          <a:p>
            <a:pPr marL="285750" indent="-285750">
              <a:buFont typeface="Wingdings" pitchFamily="2" charset="2"/>
              <a:buChar char="§"/>
            </a:pPr>
            <a:r>
              <a:rPr lang="en-US" sz="1400" dirty="0"/>
              <a:t>Kein </a:t>
            </a:r>
            <a:r>
              <a:rPr lang="en-US" sz="1400" dirty="0" err="1"/>
              <a:t>komplexes</a:t>
            </a:r>
            <a:r>
              <a:rPr lang="en-US" sz="1400" dirty="0"/>
              <a:t> Login-System</a:t>
            </a:r>
          </a:p>
          <a:p>
            <a:endParaRPr lang="en-US" sz="1400" dirty="0"/>
          </a:p>
          <a:p>
            <a:pPr marL="285750" indent="-285750">
              <a:buFont typeface="Wingdings" pitchFamily="2" charset="2"/>
              <a:buChar char="§"/>
            </a:pPr>
            <a:r>
              <a:rPr lang="en-US" sz="1400" dirty="0" err="1"/>
              <a:t>Eingabe</a:t>
            </a:r>
            <a:r>
              <a:rPr lang="en-US" sz="1400" dirty="0"/>
              <a:t> direkt über Aktienname </a:t>
            </a:r>
            <a:r>
              <a:rPr lang="en-US" sz="1400" dirty="0" err="1"/>
              <a:t>oder</a:t>
            </a:r>
            <a:r>
              <a:rPr lang="en-US" sz="1400" dirty="0"/>
              <a:t> Symbol</a:t>
            </a:r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42062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4572000" y="1280160"/>
            <a:ext cx="64008" cy="3474720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754880" y="14173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</a:rPr>
              <a:t>Architekturprinzip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20640" y="2136972"/>
            <a:ext cx="3474720" cy="2229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400" dirty="0"/>
              <a:t>Orchestrator Service </a:t>
            </a:r>
            <a:r>
              <a:rPr lang="en-US" sz="1400" dirty="0" err="1"/>
              <a:t>kontrolliert</a:t>
            </a:r>
            <a:r>
              <a:rPr lang="en-US" sz="1400" dirty="0"/>
              <a:t> alle </a:t>
            </a:r>
            <a:r>
              <a:rPr lang="en-US" sz="1400" dirty="0" err="1"/>
              <a:t>Abläufe</a:t>
            </a:r>
            <a:endParaRPr lang="en-US" sz="1400" dirty="0"/>
          </a:p>
          <a:p>
            <a:pPr marL="171450" indent="-171450">
              <a:buFont typeface="Wingdings" pitchFamily="2" charset="2"/>
              <a:buChar char="§"/>
            </a:pPr>
            <a:endParaRPr lang="en-US" sz="1400" dirty="0"/>
          </a:p>
          <a:p>
            <a:pPr marL="171450" indent="-171450">
              <a:buFont typeface="Wingdings" pitchFamily="2" charset="2"/>
              <a:buChar char="§"/>
            </a:pPr>
            <a:r>
              <a:rPr lang="en-US" sz="1400" dirty="0" err="1"/>
              <a:t>Kombination</a:t>
            </a:r>
            <a:r>
              <a:rPr lang="en-US" sz="1400" dirty="0"/>
              <a:t> </a:t>
            </a:r>
            <a:r>
              <a:rPr lang="en-US" sz="1400" dirty="0" err="1"/>
              <a:t>aus</a:t>
            </a:r>
            <a:r>
              <a:rPr lang="en-US" sz="1400" dirty="0"/>
              <a:t> </a:t>
            </a:r>
            <a:r>
              <a:rPr lang="en-US" sz="1400" dirty="0" err="1"/>
              <a:t>internen</a:t>
            </a:r>
            <a:r>
              <a:rPr lang="en-US" sz="1400" dirty="0"/>
              <a:t> &amp; </a:t>
            </a:r>
            <a:r>
              <a:rPr lang="en-US" sz="1400" dirty="0" err="1"/>
              <a:t>externen</a:t>
            </a:r>
            <a:r>
              <a:rPr lang="en-US" sz="1400" dirty="0"/>
              <a:t> Services</a:t>
            </a:r>
          </a:p>
          <a:p>
            <a:endParaRPr lang="en-US" sz="1400" dirty="0"/>
          </a:p>
          <a:p>
            <a:pPr marL="171450" indent="-171450">
              <a:buFont typeface="Wingdings" pitchFamily="2" charset="2"/>
              <a:buChar char="§"/>
            </a:pPr>
            <a:r>
              <a:rPr lang="de-DE" sz="1400" dirty="0"/>
              <a:t>Single </a:t>
            </a:r>
            <a:r>
              <a:rPr lang="de-DE" sz="1400" dirty="0" err="1"/>
              <a:t>Responsibility</a:t>
            </a:r>
            <a:r>
              <a:rPr lang="de-DE" sz="1400" dirty="0"/>
              <a:t> — jeder Service hat genau eine Aufgabe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0640" y="262432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328269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394106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Technologien · 2.1 Frontend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289304"/>
            <a:ext cx="4224528" cy="1555835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74320" y="1289304"/>
            <a:ext cx="54864" cy="1555835"/>
          </a:xfrm>
          <a:prstGeom prst="rect">
            <a:avLst/>
          </a:prstGeom>
          <a:solidFill>
            <a:srgbClr val="41B88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38912" y="1380744"/>
            <a:ext cx="3968496" cy="388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Vue.js 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" y="1728217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03504" y="1773935"/>
            <a:ext cx="3803904" cy="107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de-DE" sz="1400" dirty="0"/>
              <a:t>Wiederverwendbare Logik ausgelagert in separate Module</a:t>
            </a:r>
          </a:p>
        </p:txBody>
      </p:sp>
      <p:sp>
        <p:nvSpPr>
          <p:cNvPr id="14" name="Text 12"/>
          <p:cNvSpPr/>
          <p:nvPr/>
        </p:nvSpPr>
        <p:spPr>
          <a:xfrm>
            <a:off x="603504" y="2084832"/>
            <a:ext cx="3803904" cy="340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36592" y="1289303"/>
            <a:ext cx="4224528" cy="1555835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4736592" y="1289303"/>
            <a:ext cx="54864" cy="1555835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901184" y="1380743"/>
            <a:ext cx="3968496" cy="388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JavaScript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01184" y="1728216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5065776" y="1773935"/>
            <a:ext cx="3803904" cy="107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altLang="de-DE" sz="1400" dirty="0" err="1"/>
              <a:t>Timer</a:t>
            </a:r>
            <a:r>
              <a:rPr lang="de-DE" altLang="de-DE" sz="1400" dirty="0"/>
              <a:t> für automatisches Polling alle 5 Sekunden </a:t>
            </a:r>
          </a:p>
          <a:p>
            <a:pPr marL="171450" indent="-171450">
              <a:buFont typeface="Wingdings" pitchFamily="2" charset="2"/>
              <a:buChar char="§"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65776" y="2084831"/>
            <a:ext cx="3803904" cy="340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191256"/>
            <a:ext cx="4224528" cy="1555835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274320" y="3191256"/>
            <a:ext cx="54864" cy="1555835"/>
          </a:xfrm>
          <a:prstGeom prst="rect">
            <a:avLst/>
          </a:prstGeom>
          <a:solidFill>
            <a:srgbClr val="264DE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438912" y="3282695"/>
            <a:ext cx="3968496" cy="388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HTML &amp; CSS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8912" y="3630168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603504" y="3675888"/>
            <a:ext cx="3803904" cy="107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de-DE" altLang="de-DE" sz="1400" dirty="0"/>
              <a:t>Klare Trennung von Struktur (HTML) und Darstellung (CSS) </a:t>
            </a:r>
          </a:p>
        </p:txBody>
      </p:sp>
      <p:sp>
        <p:nvSpPr>
          <p:cNvPr id="30" name="Text 28"/>
          <p:cNvSpPr/>
          <p:nvPr/>
        </p:nvSpPr>
        <p:spPr>
          <a:xfrm>
            <a:off x="603504" y="3986784"/>
            <a:ext cx="3803904" cy="340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36592" y="3191255"/>
            <a:ext cx="4224528" cy="155584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4736592" y="3191255"/>
            <a:ext cx="54864" cy="1555841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4901184" y="3282696"/>
            <a:ext cx="3968496" cy="38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Fetch API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901184" y="3630168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5065776" y="3675888"/>
            <a:ext cx="3803904" cy="107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400" dirty="0"/>
              <a:t>Browser-native Schnittstelle für </a:t>
            </a:r>
            <a:r>
              <a:rPr lang="en-US" sz="1400" dirty="0" err="1"/>
              <a:t>asynchrone</a:t>
            </a:r>
            <a:r>
              <a:rPr lang="en-US" sz="1400" dirty="0"/>
              <a:t> REST-</a:t>
            </a:r>
            <a:r>
              <a:rPr lang="en-US" sz="1400" dirty="0" err="1"/>
              <a:t>Aufrufe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065776" y="3986784"/>
            <a:ext cx="3803904" cy="3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0" name="Rectangle 2">
            <a:extLst>
              <a:ext uri="{FF2B5EF4-FFF2-40B4-BE49-F238E27FC236}">
                <a16:creationId xmlns:a16="http://schemas.microsoft.com/office/drawing/2014/main" id="{A444AF02-467C-AC6E-95B2-3A5D6A655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Technologien · 2.2 Backend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407494"/>
            <a:ext cx="4224528" cy="15492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74320" y="1407494"/>
            <a:ext cx="54864" cy="1549292"/>
          </a:xfrm>
          <a:prstGeom prst="rect">
            <a:avLst/>
          </a:prstGeom>
          <a:solidFill>
            <a:srgbClr val="4695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38912" y="1498933"/>
            <a:ext cx="3968496" cy="387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Quarkus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8912" y="1846406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03504" y="1892126"/>
            <a:ext cx="3803904" cy="1058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400" dirty="0"/>
              <a:t>Schnelle </a:t>
            </a:r>
            <a:r>
              <a:rPr lang="en-US" sz="1400" dirty="0" err="1"/>
              <a:t>Startzeiten</a:t>
            </a:r>
            <a:r>
              <a:rPr lang="en-US" sz="1400" dirty="0"/>
              <a:t> und </a:t>
            </a:r>
            <a:r>
              <a:rPr lang="en-US" sz="1400" dirty="0" err="1"/>
              <a:t>geringer</a:t>
            </a:r>
            <a:r>
              <a:rPr lang="en-US" sz="1400" dirty="0"/>
              <a:t> </a:t>
            </a:r>
            <a:r>
              <a:rPr lang="en-US" sz="1400" dirty="0" err="1"/>
              <a:t>Speicherbedarf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3504" y="2203022"/>
            <a:ext cx="3803904" cy="338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de-DE" sz="1000" dirty="0"/>
          </a:p>
        </p:txBody>
      </p:sp>
      <p:sp>
        <p:nvSpPr>
          <p:cNvPr id="15" name="Shape 13"/>
          <p:cNvSpPr/>
          <p:nvPr/>
        </p:nvSpPr>
        <p:spPr>
          <a:xfrm>
            <a:off x="4773168" y="1407496"/>
            <a:ext cx="4224528" cy="154929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4773168" y="1407496"/>
            <a:ext cx="54864" cy="154929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937760" y="1498935"/>
            <a:ext cx="3968496" cy="387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REST - </a:t>
            </a:r>
            <a:r>
              <a:rPr lang="en-US" sz="1600" b="1" dirty="0" err="1">
                <a:solidFill>
                  <a:srgbClr val="1A1A2E"/>
                </a:solidFill>
              </a:rPr>
              <a:t>Kommunikation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37760" y="1846408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5102352" y="1892127"/>
            <a:ext cx="3803904" cy="1064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de-DE" sz="1400" dirty="0" err="1"/>
              <a:t>Orchestrator</a:t>
            </a:r>
            <a:r>
              <a:rPr lang="de-DE" sz="1400" dirty="0"/>
              <a:t> als einziger Einstiegspunkt — interne Services nicht von außen erreichbar</a:t>
            </a:r>
          </a:p>
        </p:txBody>
      </p:sp>
      <p:sp>
        <p:nvSpPr>
          <p:cNvPr id="22" name="Text 20"/>
          <p:cNvSpPr/>
          <p:nvPr/>
        </p:nvSpPr>
        <p:spPr>
          <a:xfrm>
            <a:off x="5102352" y="2203023"/>
            <a:ext cx="3803904" cy="33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273551"/>
            <a:ext cx="4224528" cy="15492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274320" y="3273551"/>
            <a:ext cx="54864" cy="1549292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438912" y="3364990"/>
            <a:ext cx="3968496" cy="387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Docker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38912" y="3712463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603504" y="3758182"/>
            <a:ext cx="3803904" cy="1064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/>
              <a:t>Docker-compose </a:t>
            </a:r>
            <a:r>
              <a:rPr lang="en-US" sz="1400" dirty="0" err="1"/>
              <a:t>orchestriert</a:t>
            </a:r>
            <a:r>
              <a:rPr lang="en-US" sz="1400" dirty="0"/>
              <a:t> alle Services + PostgreSQL</a:t>
            </a:r>
          </a:p>
        </p:txBody>
      </p:sp>
      <p:sp>
        <p:nvSpPr>
          <p:cNvPr id="30" name="Text 28"/>
          <p:cNvSpPr/>
          <p:nvPr/>
        </p:nvSpPr>
        <p:spPr>
          <a:xfrm>
            <a:off x="603504" y="4069078"/>
            <a:ext cx="3803904" cy="33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73168" y="3273552"/>
            <a:ext cx="4224528" cy="154929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4773168" y="3273552"/>
            <a:ext cx="54864" cy="1549291"/>
          </a:xfrm>
          <a:prstGeom prst="rect">
            <a:avLst/>
          </a:prstGeom>
          <a:solidFill>
            <a:srgbClr val="33679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4937760" y="3364992"/>
            <a:ext cx="3968496" cy="387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PostgreSQL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937760" y="3712465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5102352" y="3758184"/>
            <a:ext cx="3803904" cy="1064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400" dirty="0"/>
              <a:t>Persistente Speicherung von Abonnements und </a:t>
            </a:r>
            <a:r>
              <a:rPr lang="en-US" sz="1400" dirty="0" err="1"/>
              <a:t>ausgelösten</a:t>
            </a:r>
            <a:r>
              <a:rPr lang="en-US" sz="1400" dirty="0"/>
              <a:t> Alerts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sz="1200" dirty="0"/>
          </a:p>
        </p:txBody>
      </p:sp>
      <p:sp>
        <p:nvSpPr>
          <p:cNvPr id="38" name="Text 36"/>
          <p:cNvSpPr/>
          <p:nvPr/>
        </p:nvSpPr>
        <p:spPr>
          <a:xfrm>
            <a:off x="5102352" y="4069080"/>
            <a:ext cx="3803904" cy="33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943600" y="-731520"/>
            <a:ext cx="3657600" cy="3657600"/>
          </a:xfrm>
          <a:prstGeom prst="ellipse">
            <a:avLst/>
          </a:prstGeom>
          <a:solidFill>
            <a:srgbClr val="0D204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548640" cy="32004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199" y="2528171"/>
            <a:ext cx="757833" cy="7241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46731" y="25603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2260242"/>
            <a:ext cx="4295104" cy="1918952"/>
          </a:xfrm>
          <a:prstGeom prst="rect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57200" y="2260242"/>
            <a:ext cx="47486" cy="1918952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941979" y="2260242"/>
            <a:ext cx="3114866" cy="191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solidFill>
                  <a:srgbClr val="FFFFFF"/>
                </a:solidFill>
              </a:rPr>
              <a:t>2 externe Web-Services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dirty="0">
              <a:solidFill>
                <a:srgbClr val="FFFFFF"/>
              </a:solidFill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solidFill>
                  <a:srgbClr val="FFFFFF"/>
                </a:solidFill>
              </a:rPr>
              <a:t>5 </a:t>
            </a:r>
            <a:r>
              <a:rPr lang="en-US" dirty="0" err="1">
                <a:solidFill>
                  <a:srgbClr val="FFFFFF"/>
                </a:solidFill>
              </a:rPr>
              <a:t>interene</a:t>
            </a:r>
            <a:r>
              <a:rPr lang="en-US" dirty="0">
                <a:solidFill>
                  <a:srgbClr val="FFFFFF"/>
                </a:solidFill>
              </a:rPr>
              <a:t> Web-Services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· 3.1 Externe Web-Services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/>
              <a:t>Fremdanbieter-APIs — werden ausschließlich von internen Services angesprochen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0106" y="1389888"/>
            <a:ext cx="3836138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370106" y="1389888"/>
            <a:ext cx="3836138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61546" y="1463040"/>
            <a:ext cx="5480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" y="1591056"/>
            <a:ext cx="38361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</a:rPr>
              <a:t>AlphaVantage API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01626" y="180136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2986" y="2148840"/>
            <a:ext cx="356212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507266" y="2231136"/>
            <a:ext cx="1264661" cy="2743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07266" y="2231136"/>
            <a:ext cx="12646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/>
              <a:t>Aktienkurse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1428" y="2564903"/>
            <a:ext cx="4754880" cy="1014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→  </a:t>
            </a:r>
            <a:r>
              <a:rPr lang="en-US" sz="1100" dirty="0" err="1">
                <a:solidFill>
                  <a:srgbClr val="1A1A2E"/>
                </a:solidFill>
              </a:rPr>
              <a:t>Liefert</a:t>
            </a:r>
            <a:r>
              <a:rPr lang="en-US" sz="1100" dirty="0">
                <a:solidFill>
                  <a:srgbClr val="1A1A2E"/>
                </a:solidFill>
              </a:rPr>
              <a:t> Live-Aktienkurse in USD</a:t>
            </a:r>
          </a:p>
          <a:p>
            <a:pPr marL="0" indent="0">
              <a:buNone/>
            </a:pPr>
            <a:endParaRPr lang="en-US" sz="1100" dirty="0">
              <a:solidFill>
                <a:srgbClr val="1A1A2E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4426" y="28346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4426" y="30906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2986" y="3575304"/>
            <a:ext cx="356212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507265" y="3648456"/>
            <a:ext cx="1411685" cy="2743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21" name="Text 19"/>
          <p:cNvSpPr/>
          <p:nvPr/>
        </p:nvSpPr>
        <p:spPr>
          <a:xfrm>
            <a:off x="507266" y="3648456"/>
            <a:ext cx="14116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/>
              <a:t>Symbolumwandlung</a:t>
            </a:r>
            <a:endParaRPr lang="en-US" sz="1200" b="1" dirty="0"/>
          </a:p>
        </p:txBody>
      </p:sp>
      <p:sp>
        <p:nvSpPr>
          <p:cNvPr id="22" name="Text 20"/>
          <p:cNvSpPr/>
          <p:nvPr/>
        </p:nvSpPr>
        <p:spPr>
          <a:xfrm>
            <a:off x="591428" y="3977640"/>
            <a:ext cx="399592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→ </a:t>
            </a:r>
            <a:r>
              <a:rPr lang="en-US" sz="1100" dirty="0" err="1">
                <a:solidFill>
                  <a:srgbClr val="1A1A2E"/>
                </a:solidFill>
              </a:rPr>
              <a:t>Wandelt</a:t>
            </a:r>
            <a:r>
              <a:rPr lang="en-US" sz="1100" dirty="0">
                <a:solidFill>
                  <a:srgbClr val="1A1A2E"/>
                </a:solidFill>
              </a:rPr>
              <a:t> </a:t>
            </a:r>
            <a:r>
              <a:rPr lang="en-US" sz="1100" dirty="0" err="1">
                <a:solidFill>
                  <a:srgbClr val="1A1A2E"/>
                </a:solidFill>
              </a:rPr>
              <a:t>Suche</a:t>
            </a:r>
            <a:r>
              <a:rPr lang="en-US" sz="1100" dirty="0">
                <a:solidFill>
                  <a:srgbClr val="1A1A2E"/>
                </a:solidFill>
              </a:rPr>
              <a:t> in Symbol um: "Apple" → "AAPL”</a:t>
            </a:r>
          </a:p>
        </p:txBody>
      </p:sp>
      <p:sp>
        <p:nvSpPr>
          <p:cNvPr id="23" name="Text 21"/>
          <p:cNvSpPr/>
          <p:nvPr/>
        </p:nvSpPr>
        <p:spPr>
          <a:xfrm>
            <a:off x="548640" y="41148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33418" y="1389888"/>
            <a:ext cx="3836138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25" name="Shape 23"/>
          <p:cNvSpPr/>
          <p:nvPr/>
        </p:nvSpPr>
        <p:spPr>
          <a:xfrm>
            <a:off x="4933418" y="1389888"/>
            <a:ext cx="3836138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979138" y="1463040"/>
            <a:ext cx="5480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937762" y="1591056"/>
            <a:ext cx="38281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A1A2E"/>
                </a:solidFill>
              </a:rPr>
              <a:t>Currency API - </a:t>
            </a:r>
            <a:r>
              <a:rPr lang="de-DE" sz="1600" b="1" dirty="0" err="1"/>
              <a:t>jsDelivr</a:t>
            </a:r>
            <a:endParaRPr lang="en-US" sz="1600" b="1" dirty="0"/>
          </a:p>
        </p:txBody>
      </p:sp>
      <p:sp>
        <p:nvSpPr>
          <p:cNvPr id="28" name="Text 26"/>
          <p:cNvSpPr/>
          <p:nvPr/>
        </p:nvSpPr>
        <p:spPr>
          <a:xfrm>
            <a:off x="5619218" y="1801368"/>
            <a:ext cx="21920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70578" y="2148840"/>
            <a:ext cx="350732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5006570" y="2231136"/>
            <a:ext cx="1264661" cy="27432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5006570" y="2231136"/>
            <a:ext cx="12646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/>
              <a:t>Wechselkurs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16295" y="2587751"/>
            <a:ext cx="2782255" cy="199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→ </a:t>
            </a:r>
            <a:r>
              <a:rPr lang="en-US" sz="1100" dirty="0">
                <a:solidFill>
                  <a:srgbClr val="1A1A2E"/>
                </a:solidFill>
              </a:rPr>
              <a:t>Holt den </a:t>
            </a:r>
            <a:r>
              <a:rPr lang="en-US" sz="1100" dirty="0" err="1">
                <a:solidFill>
                  <a:srgbClr val="1A1A2E"/>
                </a:solidFill>
              </a:rPr>
              <a:t>aktuellen</a:t>
            </a:r>
            <a:r>
              <a:rPr lang="en-US" sz="1100" dirty="0">
                <a:solidFill>
                  <a:srgbClr val="1A1A2E"/>
                </a:solidFill>
              </a:rPr>
              <a:t> USD → EUR Kurs</a:t>
            </a:r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70578" y="2962656"/>
            <a:ext cx="26979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70578" y="3273552"/>
            <a:ext cx="26979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4E12F-1280-06A0-9CB9-F1B0200C9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D862068-D14E-DDFC-A4AF-9DDD25AB54F8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0BA62C8-78CF-73F6-C5C0-9EA1AD564C31}"/>
              </a:ext>
            </a:extLst>
          </p:cNvPr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235C68D-C8BC-B025-0795-4C656B204C9B}"/>
              </a:ext>
            </a:extLst>
          </p:cNvPr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160C42F-4436-7373-1433-DB62F76D02F0}"/>
              </a:ext>
            </a:extLst>
          </p:cNvPr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03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D4FEF3C-E0FD-1B7F-429D-EDF4BF766E0A}"/>
              </a:ext>
            </a:extLst>
          </p:cNvPr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· 3.2 Interne Web-Services</a:t>
            </a:r>
            <a:endParaRPr lang="en-US" sz="2400" dirty="0"/>
          </a:p>
        </p:txBody>
      </p:sp>
      <p:sp>
        <p:nvSpPr>
          <p:cNvPr id="84" name="Shape 6">
            <a:extLst>
              <a:ext uri="{FF2B5EF4-FFF2-40B4-BE49-F238E27FC236}">
                <a16:creationId xmlns:a16="http://schemas.microsoft.com/office/drawing/2014/main" id="{B8D69722-83A1-047B-68EA-294E2CE15A36}"/>
              </a:ext>
            </a:extLst>
          </p:cNvPr>
          <p:cNvSpPr/>
          <p:nvPr/>
        </p:nvSpPr>
        <p:spPr>
          <a:xfrm>
            <a:off x="2127844" y="1143000"/>
            <a:ext cx="4888311" cy="378302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85" name="Shape 7">
            <a:extLst>
              <a:ext uri="{FF2B5EF4-FFF2-40B4-BE49-F238E27FC236}">
                <a16:creationId xmlns:a16="http://schemas.microsoft.com/office/drawing/2014/main" id="{8629DEA3-A6EE-5F86-7B18-3B96ABC858B8}"/>
              </a:ext>
            </a:extLst>
          </p:cNvPr>
          <p:cNvSpPr/>
          <p:nvPr/>
        </p:nvSpPr>
        <p:spPr>
          <a:xfrm>
            <a:off x="2127844" y="1142999"/>
            <a:ext cx="4888311" cy="69687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6" name="Text 8">
            <a:extLst>
              <a:ext uri="{FF2B5EF4-FFF2-40B4-BE49-F238E27FC236}">
                <a16:creationId xmlns:a16="http://schemas.microsoft.com/office/drawing/2014/main" id="{3BC97FEA-E6DA-0EFC-FCC8-80A490C59940}"/>
              </a:ext>
            </a:extLst>
          </p:cNvPr>
          <p:cNvSpPr/>
          <p:nvPr/>
        </p:nvSpPr>
        <p:spPr>
          <a:xfrm>
            <a:off x="2219285" y="1216151"/>
            <a:ext cx="698330" cy="5475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87" name="Shape 11">
            <a:extLst>
              <a:ext uri="{FF2B5EF4-FFF2-40B4-BE49-F238E27FC236}">
                <a16:creationId xmlns:a16="http://schemas.microsoft.com/office/drawing/2014/main" id="{0BCD3CC1-F061-4FA3-DADB-80EF341DF651}"/>
              </a:ext>
            </a:extLst>
          </p:cNvPr>
          <p:cNvSpPr/>
          <p:nvPr/>
        </p:nvSpPr>
        <p:spPr>
          <a:xfrm>
            <a:off x="2292436" y="1763694"/>
            <a:ext cx="45574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0" name="Shape 17">
            <a:extLst>
              <a:ext uri="{FF2B5EF4-FFF2-40B4-BE49-F238E27FC236}">
                <a16:creationId xmlns:a16="http://schemas.microsoft.com/office/drawing/2014/main" id="{00079FA4-452C-2C10-E1E4-798A7E7D9628}"/>
              </a:ext>
            </a:extLst>
          </p:cNvPr>
          <p:cNvSpPr/>
          <p:nvPr/>
        </p:nvSpPr>
        <p:spPr>
          <a:xfrm>
            <a:off x="2288655" y="3635848"/>
            <a:ext cx="4557435" cy="22601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2" name="Text 19">
            <a:extLst>
              <a:ext uri="{FF2B5EF4-FFF2-40B4-BE49-F238E27FC236}">
                <a16:creationId xmlns:a16="http://schemas.microsoft.com/office/drawing/2014/main" id="{36D4F649-5694-D96F-0CF0-5DDC47FA703B}"/>
              </a:ext>
            </a:extLst>
          </p:cNvPr>
          <p:cNvSpPr/>
          <p:nvPr/>
        </p:nvSpPr>
        <p:spPr>
          <a:xfrm>
            <a:off x="2261224" y="3242659"/>
            <a:ext cx="1611531" cy="29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93" name="Text 20">
            <a:extLst>
              <a:ext uri="{FF2B5EF4-FFF2-40B4-BE49-F238E27FC236}">
                <a16:creationId xmlns:a16="http://schemas.microsoft.com/office/drawing/2014/main" id="{1C63747A-24D5-14EE-2074-752D80711494}"/>
              </a:ext>
            </a:extLst>
          </p:cNvPr>
          <p:cNvSpPr/>
          <p:nvPr/>
        </p:nvSpPr>
        <p:spPr>
          <a:xfrm>
            <a:off x="2288656" y="3571842"/>
            <a:ext cx="4694927" cy="278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CA8FD7DD-AA4E-12E0-04EA-F61E37CCDA87}"/>
              </a:ext>
            </a:extLst>
          </p:cNvPr>
          <p:cNvSpPr txBox="1"/>
          <p:nvPr/>
        </p:nvSpPr>
        <p:spPr>
          <a:xfrm>
            <a:off x="2310725" y="1304903"/>
            <a:ext cx="45391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1A1A2E"/>
                </a:solidFill>
              </a:rPr>
              <a:t>Stock-Subscription-Service</a:t>
            </a:r>
            <a:endParaRPr lang="de-DE" sz="1600" dirty="0"/>
          </a:p>
        </p:txBody>
      </p:sp>
      <p:sp>
        <p:nvSpPr>
          <p:cNvPr id="95" name="Textfeld 94">
            <a:extLst>
              <a:ext uri="{FF2B5EF4-FFF2-40B4-BE49-F238E27FC236}">
                <a16:creationId xmlns:a16="http://schemas.microsoft.com/office/drawing/2014/main" id="{02277C40-F2A7-5865-15E2-62191CA521F2}"/>
              </a:ext>
            </a:extLst>
          </p:cNvPr>
          <p:cNvSpPr txBox="1"/>
          <p:nvPr/>
        </p:nvSpPr>
        <p:spPr>
          <a:xfrm>
            <a:off x="2306945" y="3773530"/>
            <a:ext cx="46197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de-DE" altLang="de-DE" sz="1200" dirty="0"/>
              <a:t>Läuft automatisch alle 10 Sekunden im Hintergrund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endParaRPr lang="de-DE" altLang="de-DE" sz="1200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de-DE" altLang="de-DE" sz="1200" dirty="0"/>
              <a:t>Holt Kurse, prüft Schwellenwerte und löst Alerts aus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sz="1200" dirty="0"/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E028E438-CA8F-E180-5455-339B218DA141}"/>
              </a:ext>
            </a:extLst>
          </p:cNvPr>
          <p:cNvSpPr txBox="1"/>
          <p:nvPr/>
        </p:nvSpPr>
        <p:spPr>
          <a:xfrm>
            <a:off x="2265004" y="1970741"/>
            <a:ext cx="4539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de-DE" altLang="de-DE" sz="1200" dirty="0" err="1"/>
              <a:t>Orchestrator</a:t>
            </a:r>
            <a:r>
              <a:rPr lang="de-DE" altLang="de-DE" sz="1200" dirty="0"/>
              <a:t>: bündelt alle internen Services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sz="1200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de-DE" altLang="de-DE" sz="1200" dirty="0"/>
              <a:t>Stellt angereicherte Daten bereit (z.B. aktueller Kurs)</a:t>
            </a:r>
          </a:p>
        </p:txBody>
      </p:sp>
      <p:sp>
        <p:nvSpPr>
          <p:cNvPr id="99" name="Shape 7">
            <a:extLst>
              <a:ext uri="{FF2B5EF4-FFF2-40B4-BE49-F238E27FC236}">
                <a16:creationId xmlns:a16="http://schemas.microsoft.com/office/drawing/2014/main" id="{170D39E5-C3A8-A630-7B1B-97888D41A775}"/>
              </a:ext>
            </a:extLst>
          </p:cNvPr>
          <p:cNvSpPr/>
          <p:nvPr/>
        </p:nvSpPr>
        <p:spPr>
          <a:xfrm>
            <a:off x="2127844" y="3033804"/>
            <a:ext cx="4896609" cy="45719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D77785BC-6B27-4E2E-AAF7-969DC42A7B51}"/>
              </a:ext>
            </a:extLst>
          </p:cNvPr>
          <p:cNvSpPr txBox="1"/>
          <p:nvPr/>
        </p:nvSpPr>
        <p:spPr>
          <a:xfrm>
            <a:off x="2381791" y="3226484"/>
            <a:ext cx="4493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/>
              <a:t>MonitoringJob</a:t>
            </a:r>
            <a:r>
              <a:rPr lang="de-DE" sz="1400" b="1" dirty="0"/>
              <a:t> (Teil des </a:t>
            </a:r>
            <a:r>
              <a:rPr lang="de-DE" sz="1400" b="1" dirty="0" err="1"/>
              <a:t>Orchestrators</a:t>
            </a:r>
            <a:r>
              <a:rPr lang="de-DE" sz="14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33429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· 3.2 Interne Web-Services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736592" y="1366364"/>
            <a:ext cx="4224528" cy="15537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4736592" y="1366364"/>
            <a:ext cx="54864" cy="1553716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4901184" y="1457803"/>
            <a:ext cx="2743200" cy="38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Stock-Service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01184" y="1805276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5065776" y="1850995"/>
            <a:ext cx="3803904" cy="108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200" dirty="0"/>
              <a:t>Wandelt Sucheingaben in </a:t>
            </a:r>
            <a:r>
              <a:rPr lang="en-US" sz="1200" dirty="0" err="1"/>
              <a:t>Börsensymbole</a:t>
            </a:r>
            <a:r>
              <a:rPr lang="en-US" sz="1200" dirty="0"/>
              <a:t> um</a:t>
            </a:r>
          </a:p>
          <a:p>
            <a:pPr marL="171450" indent="-171450">
              <a:buFont typeface="Wingdings" pitchFamily="2" charset="2"/>
              <a:buChar char="§"/>
            </a:pPr>
            <a:endParaRPr lang="en-US" sz="1200" dirty="0"/>
          </a:p>
          <a:p>
            <a:pPr marL="171450" indent="-171450">
              <a:buFont typeface="Wingdings" pitchFamily="2" charset="2"/>
              <a:buChar char="§"/>
            </a:pPr>
            <a:r>
              <a:rPr lang="en-US" sz="1200" dirty="0" err="1"/>
              <a:t>Ruft</a:t>
            </a:r>
            <a:r>
              <a:rPr lang="en-US" sz="1200" dirty="0"/>
              <a:t> Live-</a:t>
            </a:r>
            <a:r>
              <a:rPr lang="en-US" sz="1200" dirty="0" err="1"/>
              <a:t>Kurse</a:t>
            </a:r>
            <a:r>
              <a:rPr lang="en-US" sz="1200" dirty="0"/>
              <a:t> von </a:t>
            </a:r>
            <a:r>
              <a:rPr lang="en-US" sz="1200" dirty="0" err="1"/>
              <a:t>externer</a:t>
            </a:r>
            <a:r>
              <a:rPr lang="en-US" sz="1200" dirty="0"/>
              <a:t> API ab</a:t>
            </a:r>
          </a:p>
        </p:txBody>
      </p:sp>
      <p:sp>
        <p:nvSpPr>
          <p:cNvPr id="26" name="Text 24"/>
          <p:cNvSpPr/>
          <p:nvPr/>
        </p:nvSpPr>
        <p:spPr>
          <a:xfrm>
            <a:off x="5065776" y="2161891"/>
            <a:ext cx="3803904" cy="339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1356960"/>
            <a:ext cx="4224528" cy="15782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274320" y="1356960"/>
            <a:ext cx="54864" cy="15782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438912" y="1448400"/>
            <a:ext cx="2743200" cy="394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Subscription-Service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8912" y="1795872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603504" y="1841591"/>
            <a:ext cx="3803904" cy="107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200" dirty="0"/>
              <a:t>Speichert Portfolios in PostgreSQL</a:t>
            </a:r>
          </a:p>
          <a:p>
            <a:pPr marL="171450" indent="-171450">
              <a:buFont typeface="Wingdings" pitchFamily="2" charset="2"/>
              <a:buChar char="§"/>
            </a:pPr>
            <a:endParaRPr lang="en-US" sz="1200" dirty="0"/>
          </a:p>
          <a:p>
            <a:pPr marL="171450" indent="-171450">
              <a:buFont typeface="Wingdings" pitchFamily="2" charset="2"/>
              <a:buChar char="§"/>
            </a:pPr>
            <a:r>
              <a:rPr lang="de-DE" sz="1200" dirty="0"/>
              <a:t>Speichert Einstiegspreis, oberes und unteres Limit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3504" y="2152487"/>
            <a:ext cx="3803904" cy="34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36592" y="3230976"/>
            <a:ext cx="4224528" cy="157826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Shape 36"/>
          <p:cNvSpPr/>
          <p:nvPr/>
        </p:nvSpPr>
        <p:spPr>
          <a:xfrm>
            <a:off x="4736592" y="3230976"/>
            <a:ext cx="54864" cy="1578263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4901184" y="3322416"/>
            <a:ext cx="2743200" cy="394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Alert-Service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901184" y="3669889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5065776" y="3715608"/>
            <a:ext cx="3803904" cy="10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200" dirty="0"/>
              <a:t>Vergleicht Live-Kurse mit </a:t>
            </a:r>
            <a:r>
              <a:rPr lang="en-US" sz="1200" dirty="0" err="1"/>
              <a:t>gesetzten</a:t>
            </a:r>
            <a:r>
              <a:rPr lang="en-US" sz="1200" dirty="0"/>
              <a:t> Limits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endParaRPr lang="de-DE" altLang="de-DE" sz="1200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de-DE" altLang="de-DE" sz="1200" dirty="0"/>
              <a:t>Erstellt und speichert Alerts bei Grenzüberschreitung </a:t>
            </a:r>
          </a:p>
        </p:txBody>
      </p:sp>
      <p:sp>
        <p:nvSpPr>
          <p:cNvPr id="46" name="Text 44"/>
          <p:cNvSpPr/>
          <p:nvPr/>
        </p:nvSpPr>
        <p:spPr>
          <a:xfrm>
            <a:off x="5065776" y="4026504"/>
            <a:ext cx="3803904" cy="34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3230976"/>
            <a:ext cx="4224528" cy="157826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8" name="Shape 46"/>
          <p:cNvSpPr/>
          <p:nvPr/>
        </p:nvSpPr>
        <p:spPr>
          <a:xfrm>
            <a:off x="274320" y="3230976"/>
            <a:ext cx="54864" cy="1578263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/>
          <p:nvPr/>
        </p:nvSpPr>
        <p:spPr>
          <a:xfrm>
            <a:off x="438912" y="3322417"/>
            <a:ext cx="2743200" cy="394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Currency-Service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38912" y="3669889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4" name="Text 52"/>
          <p:cNvSpPr/>
          <p:nvPr/>
        </p:nvSpPr>
        <p:spPr>
          <a:xfrm>
            <a:off x="603504" y="3715608"/>
            <a:ext cx="3803904" cy="1093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200" dirty="0"/>
              <a:t>Wrappt die externe </a:t>
            </a:r>
            <a:r>
              <a:rPr lang="en-US" sz="1200" dirty="0" err="1"/>
              <a:t>Währungs</a:t>
            </a:r>
            <a:r>
              <a:rPr lang="en-US" sz="1200" dirty="0"/>
              <a:t>-API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endParaRPr lang="de-DE" altLang="de-DE" sz="1200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de-DE" altLang="de-DE" sz="1200" dirty="0"/>
              <a:t>Liefert den aktuellen USD→EUR Wechselkurs </a:t>
            </a:r>
          </a:p>
        </p:txBody>
      </p:sp>
      <p:sp>
        <p:nvSpPr>
          <p:cNvPr id="56" name="Text 54"/>
          <p:cNvSpPr/>
          <p:nvPr/>
        </p:nvSpPr>
        <p:spPr>
          <a:xfrm>
            <a:off x="603504" y="4026504"/>
            <a:ext cx="3803904" cy="34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 &amp; Implementierung · 4.1 Überblick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/>
              <a:t>Orchestrator als </a:t>
            </a:r>
            <a:r>
              <a:rPr lang="en-US" sz="1600" b="1" dirty="0" err="1"/>
              <a:t>zentraler</a:t>
            </a:r>
            <a:r>
              <a:rPr lang="en-US" sz="1600" b="1" dirty="0"/>
              <a:t> Composite-Service</a:t>
            </a:r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54864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5989320" y="1828800"/>
            <a:ext cx="2880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5989320" y="1828800"/>
            <a:ext cx="45720" cy="7498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6126480" y="18836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📥  Request vom Nutzer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26480" y="21762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Gateway routet zu Abonnieren oder Kündigen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89320" y="2697480"/>
            <a:ext cx="2880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2"/>
          <p:cNvSpPr/>
          <p:nvPr/>
        </p:nvSpPr>
        <p:spPr>
          <a:xfrm>
            <a:off x="5989320" y="2697480"/>
            <a:ext cx="45720" cy="7498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/>
          <p:nvPr/>
        </p:nvSpPr>
        <p:spPr>
          <a:xfrm>
            <a:off x="6126480" y="27523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🏠  Erstes Laden der Seite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26480" y="30449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Startet automatisch die Währungsumrechnung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89320" y="3566160"/>
            <a:ext cx="2880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6"/>
          <p:cNvSpPr/>
          <p:nvPr/>
        </p:nvSpPr>
        <p:spPr>
          <a:xfrm>
            <a:off x="5989320" y="3566160"/>
            <a:ext cx="45720" cy="749808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/>
          <p:nvPr/>
        </p:nvSpPr>
        <p:spPr>
          <a:xfrm>
            <a:off x="6126480" y="36210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⏱️  Timer-Event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26480" y="39136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Minütlich getriggerte Kursüberwachung</a:t>
            </a:r>
            <a:endParaRPr lang="en-US" sz="950" dirty="0"/>
          </a:p>
        </p:txBody>
      </p:sp>
      <p:pic>
        <p:nvPicPr>
          <p:cNvPr id="27" name="Grafik 26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4EE87AAE-8295-690A-B57C-84D06D801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22" y="1596336"/>
            <a:ext cx="4840396" cy="30252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 &amp; Implementierung · 4.2 Prozesse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854964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28599" y="1051560"/>
            <a:ext cx="8549639" cy="89996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20040" y="11155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Aktie abonnieren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4264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/>
              <a:t>Eingabe → Symbol-Suche → Kursprüfung → DB-Speicherung</a:t>
            </a:r>
            <a:endParaRPr lang="en-US" sz="950" dirty="0"/>
          </a:p>
        </p:txBody>
      </p:sp>
      <p:pic>
        <p:nvPicPr>
          <p:cNvPr id="12" name="Grafik 11" descr="Ein Bild, das Diagramm, Reihe, parallel, Plan enthält.&#10;&#10;KI-generierte Inhalte können fehlerhaft sein.">
            <a:extLst>
              <a:ext uri="{FF2B5EF4-FFF2-40B4-BE49-F238E27FC236}">
                <a16:creationId xmlns:a16="http://schemas.microsoft.com/office/drawing/2014/main" id="{55E6DAAF-FEB0-A18B-79AE-FB3F4A1A4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36" y="1718569"/>
            <a:ext cx="7782128" cy="30953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948F8-E7D2-D3EE-B5AD-413151C29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A4AA911-584D-776E-074B-7757E3D1E4B7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58347BE-4907-3C58-9409-C130DB9E58A7}"/>
              </a:ext>
            </a:extLst>
          </p:cNvPr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3776D32-B675-F060-D977-4AB51EE57FB7}"/>
              </a:ext>
            </a:extLst>
          </p:cNvPr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E13B7CC-81D5-057F-96B8-972FA6CF0318}"/>
              </a:ext>
            </a:extLst>
          </p:cNvPr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C079518-0146-DE9C-718E-8E21106CB18E}"/>
              </a:ext>
            </a:extLst>
          </p:cNvPr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 &amp; Implementierung · 4.2 Prozesse</a:t>
            </a:r>
            <a:endParaRPr lang="en-US" sz="24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BF359F1-32B8-2D5B-42A8-9CB5F63101C9}"/>
              </a:ext>
            </a:extLst>
          </p:cNvPr>
          <p:cNvSpPr/>
          <p:nvPr/>
        </p:nvSpPr>
        <p:spPr>
          <a:xfrm>
            <a:off x="365760" y="1005840"/>
            <a:ext cx="841248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671EE906-F098-1F9D-787B-301C15531EC1}"/>
              </a:ext>
            </a:extLst>
          </p:cNvPr>
          <p:cNvSpPr/>
          <p:nvPr/>
        </p:nvSpPr>
        <p:spPr>
          <a:xfrm>
            <a:off x="365760" y="1005840"/>
            <a:ext cx="84124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1BA93C9-BA41-C9C3-B31A-C265CC654508}"/>
              </a:ext>
            </a:extLst>
          </p:cNvPr>
          <p:cNvSpPr/>
          <p:nvPr/>
        </p:nvSpPr>
        <p:spPr>
          <a:xfrm>
            <a:off x="457200" y="10698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Abonnement kündigen</a:t>
            </a:r>
            <a:endParaRPr lang="en-US" sz="14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569A94D-EB4B-5BC8-CA53-226F7DF3A929}"/>
              </a:ext>
            </a:extLst>
          </p:cNvPr>
          <p:cNvSpPr/>
          <p:nvPr/>
        </p:nvSpPr>
        <p:spPr>
          <a:xfrm>
            <a:off x="457199" y="1380744"/>
            <a:ext cx="39805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i="1" dirty="0" err="1"/>
              <a:t>Löschanfrage</a:t>
            </a:r>
            <a:r>
              <a:rPr lang="en-US" sz="950" i="1" dirty="0"/>
              <a:t> → </a:t>
            </a:r>
            <a:r>
              <a:rPr lang="en-US" sz="950" i="1" dirty="0" err="1"/>
              <a:t>Bestätigungs</a:t>
            </a:r>
            <a:r>
              <a:rPr lang="en-US" sz="950" i="1" dirty="0"/>
              <a:t>-Fenster → DB-Löschung → Alert-Cache löschen</a:t>
            </a:r>
            <a:endParaRPr lang="en-US" sz="950" dirty="0"/>
          </a:p>
        </p:txBody>
      </p:sp>
      <p:pic>
        <p:nvPicPr>
          <p:cNvPr id="8" name="Grafik 7" descr="Ein Bild, das Text, Diagramm, Reihe, parallel enthält.&#10;&#10;KI-generierte Inhalte können fehlerhaft sein.">
            <a:extLst>
              <a:ext uri="{FF2B5EF4-FFF2-40B4-BE49-F238E27FC236}">
                <a16:creationId xmlns:a16="http://schemas.microsoft.com/office/drawing/2014/main" id="{BED2EC3A-BA92-0145-8AC6-13775C38C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1695493"/>
            <a:ext cx="7898860" cy="313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71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 &amp; Implementierung · 4.2 Prozesse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854964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8549640" cy="54864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20040" y="11155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Aktienkurs abrufen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4264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/>
              <a:t>API-Anfrage → API-</a:t>
            </a:r>
            <a:r>
              <a:rPr lang="en-US" sz="950" i="1" dirty="0" err="1"/>
              <a:t>Antwort</a:t>
            </a:r>
            <a:r>
              <a:rPr lang="en-US" sz="950" i="1" dirty="0"/>
              <a:t>: Fallback bei Rate-Limit</a:t>
            </a:r>
            <a:endParaRPr lang="en-US" sz="95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0C81D292-0814-4592-81F9-D44581B76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1936296"/>
            <a:ext cx="7772400" cy="21715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72B3-3706-E56A-95E7-588D9FD14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F0EDA7-3EE8-EDD6-1480-4882A9B9525B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ED73105-70D7-BDCA-D544-14B54C34084F}"/>
              </a:ext>
            </a:extLst>
          </p:cNvPr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3D12594-3678-762B-3016-0606A1515DA2}"/>
              </a:ext>
            </a:extLst>
          </p:cNvPr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22C52DF-4A33-4B24-1D19-FA8E80E0969C}"/>
              </a:ext>
            </a:extLst>
          </p:cNvPr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E3CF51D-BDA6-C934-AC2A-DAEBD48DEFC6}"/>
              </a:ext>
            </a:extLst>
          </p:cNvPr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 &amp; Implementierung · 4.2 Prozesse</a:t>
            </a:r>
            <a:endParaRPr lang="en-US" sz="24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4FB16AC9-0B7E-4D9D-7EEF-B772B25429E6}"/>
              </a:ext>
            </a:extLst>
          </p:cNvPr>
          <p:cNvSpPr/>
          <p:nvPr/>
        </p:nvSpPr>
        <p:spPr>
          <a:xfrm>
            <a:off x="220980" y="1074420"/>
            <a:ext cx="855726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C4A38609-A1FA-A413-B5C8-5078B356C48C}"/>
              </a:ext>
            </a:extLst>
          </p:cNvPr>
          <p:cNvSpPr/>
          <p:nvPr/>
        </p:nvSpPr>
        <p:spPr>
          <a:xfrm>
            <a:off x="220980" y="1074420"/>
            <a:ext cx="855726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D51246E-29BB-5CEB-0F13-73BC9612DD5D}"/>
              </a:ext>
            </a:extLst>
          </p:cNvPr>
          <p:cNvSpPr/>
          <p:nvPr/>
        </p:nvSpPr>
        <p:spPr>
          <a:xfrm>
            <a:off x="312420" y="113842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Währungsumrechnung</a:t>
            </a:r>
            <a:endParaRPr lang="en-US" sz="14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85BAE136-8C0C-4FA5-6E82-01A1969A937D}"/>
              </a:ext>
            </a:extLst>
          </p:cNvPr>
          <p:cNvSpPr/>
          <p:nvPr/>
        </p:nvSpPr>
        <p:spPr>
          <a:xfrm>
            <a:off x="312419" y="1449324"/>
            <a:ext cx="6030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i="1" dirty="0"/>
              <a:t>Seitenstart → API-</a:t>
            </a:r>
            <a:r>
              <a:rPr lang="en-US" sz="950" i="1" dirty="0" err="1"/>
              <a:t>Anfrage</a:t>
            </a:r>
            <a:r>
              <a:rPr lang="en-US" sz="950" i="1" dirty="0"/>
              <a:t> → API-</a:t>
            </a:r>
            <a:r>
              <a:rPr lang="en-US" sz="950" i="1" dirty="0" err="1"/>
              <a:t>Antwort</a:t>
            </a:r>
            <a:r>
              <a:rPr lang="en-US" sz="950" i="1" dirty="0"/>
              <a:t>: Fallback </a:t>
            </a:r>
            <a:r>
              <a:rPr lang="en-US" sz="950" i="1" dirty="0" err="1"/>
              <a:t>bei</a:t>
            </a:r>
            <a:r>
              <a:rPr lang="en-US" sz="950" i="1" dirty="0"/>
              <a:t> Fehler</a:t>
            </a:r>
            <a:r>
              <a:rPr lang="en-US" sz="950" dirty="0"/>
              <a:t> </a:t>
            </a:r>
            <a:r>
              <a:rPr lang="en-US" sz="950" i="1" dirty="0"/>
              <a:t>→ Preise in EUR</a:t>
            </a:r>
            <a:endParaRPr lang="en-US" sz="950" dirty="0"/>
          </a:p>
        </p:txBody>
      </p:sp>
      <p:pic>
        <p:nvPicPr>
          <p:cNvPr id="8" name="Grafik 7" descr="Ein Bild, das Diagramm, Text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DA1C7547-9A6C-7095-C6CA-C6D662248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63" y="1705356"/>
            <a:ext cx="6506994" cy="323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483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 &amp; Implementierung · 4.2 Prozesse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86868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86868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65760" y="11155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Automatische Kursüberwachung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435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/>
              <a:t>Timer-getriggert → alle Nutzer → alle Aktien → Limit </a:t>
            </a:r>
            <a:r>
              <a:rPr lang="en-US" sz="1000" i="1" dirty="0" err="1"/>
              <a:t>Prüfung</a:t>
            </a:r>
            <a:r>
              <a:rPr lang="en-US" sz="1000" i="1" dirty="0"/>
              <a:t> → ggf. </a:t>
            </a:r>
            <a:r>
              <a:rPr lang="en-US" sz="1000" i="1" dirty="0" err="1"/>
              <a:t>Benachrichtigung</a:t>
            </a:r>
            <a:r>
              <a:rPr lang="en-US" sz="1000" i="1" dirty="0"/>
              <a:t> &amp; </a:t>
            </a:r>
            <a:r>
              <a:rPr lang="en-US" sz="1000" i="1" dirty="0" err="1"/>
              <a:t>neue</a:t>
            </a:r>
            <a:r>
              <a:rPr lang="en-US" sz="1000" i="1" dirty="0"/>
              <a:t> Limits </a:t>
            </a:r>
            <a:r>
              <a:rPr lang="en-US" sz="1000" i="1" dirty="0" err="1"/>
              <a:t>setzen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28600" y="4389120"/>
            <a:ext cx="1664208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0"/>
          <p:cNvSpPr/>
          <p:nvPr/>
        </p:nvSpPr>
        <p:spPr>
          <a:xfrm>
            <a:off x="228600" y="4389120"/>
            <a:ext cx="1664208" cy="4572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301752" y="44439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⏱️ Timer-Event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01752" y="470916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Minütlich getriggert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993392" y="4389120"/>
            <a:ext cx="1664208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4"/>
          <p:cNvSpPr/>
          <p:nvPr/>
        </p:nvSpPr>
        <p:spPr>
          <a:xfrm>
            <a:off x="1993392" y="4389120"/>
            <a:ext cx="1664208" cy="4572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5"/>
          <p:cNvSpPr/>
          <p:nvPr/>
        </p:nvSpPr>
        <p:spPr>
          <a:xfrm>
            <a:off x="2066544" y="44439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👥 Nutzer ermitteln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066544" y="470916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Subscription-Service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758184" y="4389120"/>
            <a:ext cx="1664208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8"/>
          <p:cNvSpPr/>
          <p:nvPr/>
        </p:nvSpPr>
        <p:spPr>
          <a:xfrm>
            <a:off x="3758184" y="4389120"/>
            <a:ext cx="1664208" cy="4572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19"/>
          <p:cNvSpPr/>
          <p:nvPr/>
        </p:nvSpPr>
        <p:spPr>
          <a:xfrm>
            <a:off x="3831336" y="44439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📊 Kurs abfragen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3831336" y="470916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Stock-Service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522976" y="4389120"/>
            <a:ext cx="1664208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2"/>
          <p:cNvSpPr/>
          <p:nvPr/>
        </p:nvSpPr>
        <p:spPr>
          <a:xfrm>
            <a:off x="5522976" y="4389120"/>
            <a:ext cx="1664208" cy="4572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3"/>
          <p:cNvSpPr/>
          <p:nvPr/>
        </p:nvSpPr>
        <p:spPr>
          <a:xfrm>
            <a:off x="5596128" y="44439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🔔 Limit-Check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596128" y="470916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Alert-Service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287768" y="4389120"/>
            <a:ext cx="1664208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Shape 26"/>
          <p:cNvSpPr/>
          <p:nvPr/>
        </p:nvSpPr>
        <p:spPr>
          <a:xfrm>
            <a:off x="7287768" y="4389120"/>
            <a:ext cx="1664208" cy="4572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7"/>
          <p:cNvSpPr/>
          <p:nvPr/>
        </p:nvSpPr>
        <p:spPr>
          <a:xfrm>
            <a:off x="7360920" y="44439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📨 Benachrichtigung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360920" y="470916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Bei Überschreitung</a:t>
            </a:r>
            <a:endParaRPr lang="en-US" sz="900" dirty="0"/>
          </a:p>
        </p:txBody>
      </p:sp>
      <p:pic>
        <p:nvPicPr>
          <p:cNvPr id="32" name="Grafik 31" descr="Ein Bild, das Diagramm, Reihe, Rechteck, Plan enthält.&#10;&#10;KI-generierte Inhalte können fehlerhaft sein.">
            <a:extLst>
              <a:ext uri="{FF2B5EF4-FFF2-40B4-BE49-F238E27FC236}">
                <a16:creationId xmlns:a16="http://schemas.microsoft.com/office/drawing/2014/main" id="{CA4D4B59-D98D-54F3-E692-9EB9E6241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30" y="1453896"/>
            <a:ext cx="8560340" cy="275697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C1D6C9-B9E4-F6D3-BD73-C1ACBCC23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53677A-C23D-270A-51F9-D3251B688E14}"/>
              </a:ext>
            </a:extLst>
          </p:cNvPr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DBC2FBA-B719-1925-622C-09637DA63CCC}"/>
              </a:ext>
            </a:extLst>
          </p:cNvPr>
          <p:cNvSpPr/>
          <p:nvPr/>
        </p:nvSpPr>
        <p:spPr>
          <a:xfrm>
            <a:off x="5943600" y="-731520"/>
            <a:ext cx="3657600" cy="3657600"/>
          </a:xfrm>
          <a:prstGeom prst="ellipse">
            <a:avLst/>
          </a:prstGeom>
          <a:solidFill>
            <a:srgbClr val="0D204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3B4DC31-D2BB-20E7-1D7B-AB9DD48469C4}"/>
              </a:ext>
            </a:extLst>
          </p:cNvPr>
          <p:cNvSpPr/>
          <p:nvPr/>
        </p:nvSpPr>
        <p:spPr>
          <a:xfrm>
            <a:off x="457200" y="502920"/>
            <a:ext cx="548640" cy="32004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AA953B8-2087-3814-7917-2CBFA4732149}"/>
              </a:ext>
            </a:extLst>
          </p:cNvPr>
          <p:cNvSpPr/>
          <p:nvPr/>
        </p:nvSpPr>
        <p:spPr>
          <a:xfrm>
            <a:off x="457200" y="5029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05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FA80401-533D-D97E-D0E6-1B54D5F3D2FC}"/>
              </a:ext>
            </a:extLst>
          </p:cNvPr>
          <p:cNvSpPr/>
          <p:nvPr/>
        </p:nvSpPr>
        <p:spPr>
          <a:xfrm>
            <a:off x="457200" y="1097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5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426803F-38BB-BB2F-88DE-5EDC084FF5AE}"/>
              </a:ext>
            </a:extLst>
          </p:cNvPr>
          <p:cNvSpPr/>
          <p:nvPr/>
        </p:nvSpPr>
        <p:spPr>
          <a:xfrm>
            <a:off x="457200" y="2419285"/>
            <a:ext cx="914400" cy="914400"/>
          </a:xfrm>
          <a:prstGeom prst="ellipse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EFBBEB2-5035-6806-3305-628A73AAD452}"/>
              </a:ext>
            </a:extLst>
          </p:cNvPr>
          <p:cNvSpPr/>
          <p:nvPr/>
        </p:nvSpPr>
        <p:spPr>
          <a:xfrm>
            <a:off x="457200" y="2468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A1628"/>
                </a:solidFill>
              </a:rPr>
              <a:t>▶</a:t>
            </a:r>
            <a:endParaRPr lang="en-US" sz="2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26E5B30-614C-19F8-1A83-0998B638FD0F}"/>
              </a:ext>
            </a:extLst>
          </p:cNvPr>
          <p:cNvSpPr/>
          <p:nvPr/>
        </p:nvSpPr>
        <p:spPr>
          <a:xfrm>
            <a:off x="1546731" y="25603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Anwendung live erleben</a:t>
            </a:r>
            <a:endParaRPr lang="en-US" sz="2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B358A48-147A-14B7-14AD-5316D132F6E8}"/>
              </a:ext>
            </a:extLst>
          </p:cNvPr>
          <p:cNvSpPr/>
          <p:nvPr/>
        </p:nvSpPr>
        <p:spPr>
          <a:xfrm>
            <a:off x="457200" y="3840480"/>
            <a:ext cx="2560320" cy="685800"/>
          </a:xfrm>
          <a:prstGeom prst="rect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347C272-57AB-8428-59F7-133E6C44439D}"/>
              </a:ext>
            </a:extLst>
          </p:cNvPr>
          <p:cNvSpPr/>
          <p:nvPr/>
        </p:nvSpPr>
        <p:spPr>
          <a:xfrm>
            <a:off x="457200" y="3840480"/>
            <a:ext cx="54864" cy="68580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2867F6C-7863-93AC-B240-60603DF05DC0}"/>
              </a:ext>
            </a:extLst>
          </p:cNvPr>
          <p:cNvSpPr/>
          <p:nvPr/>
        </p:nvSpPr>
        <p:spPr>
          <a:xfrm>
            <a:off x="640080" y="38404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FFFFFF"/>
                </a:solidFill>
              </a:rPr>
              <a:t>Kurs </a:t>
            </a:r>
            <a:r>
              <a:rPr lang="en-US" sz="1300" dirty="0" err="1">
                <a:solidFill>
                  <a:srgbClr val="FFFFFF"/>
                </a:solidFill>
              </a:rPr>
              <a:t>abfragen</a:t>
            </a:r>
            <a:endParaRPr lang="en-US" sz="13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6BCC0B6-7FE7-832F-FE90-0B12D680695E}"/>
              </a:ext>
            </a:extLst>
          </p:cNvPr>
          <p:cNvSpPr/>
          <p:nvPr/>
        </p:nvSpPr>
        <p:spPr>
          <a:xfrm>
            <a:off x="3291840" y="3840480"/>
            <a:ext cx="2560320" cy="685800"/>
          </a:xfrm>
          <a:prstGeom prst="rect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AAEEF0B-AE2C-9BBE-2D02-D753602823F3}"/>
              </a:ext>
            </a:extLst>
          </p:cNvPr>
          <p:cNvSpPr/>
          <p:nvPr/>
        </p:nvSpPr>
        <p:spPr>
          <a:xfrm>
            <a:off x="3291840" y="3840480"/>
            <a:ext cx="54864" cy="68580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591A747-BF4E-62BB-6AB5-511C037F0083}"/>
              </a:ext>
            </a:extLst>
          </p:cNvPr>
          <p:cNvSpPr/>
          <p:nvPr/>
        </p:nvSpPr>
        <p:spPr>
          <a:xfrm>
            <a:off x="3474720" y="38404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 err="1">
                <a:solidFill>
                  <a:srgbClr val="FFFFFF"/>
                </a:solidFill>
              </a:rPr>
              <a:t>Aktien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abonnieren</a:t>
            </a:r>
            <a:r>
              <a:rPr lang="en-US" sz="1300" dirty="0">
                <a:solidFill>
                  <a:srgbClr val="FFFFFF"/>
                </a:solidFill>
              </a:rPr>
              <a:t> und </a:t>
            </a:r>
            <a:r>
              <a:rPr lang="en-US" sz="1300" dirty="0" err="1">
                <a:solidFill>
                  <a:srgbClr val="FFFFFF"/>
                </a:solidFill>
              </a:rPr>
              <a:t>verwalten</a:t>
            </a:r>
            <a:endParaRPr lang="en-US" sz="13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66F1A2E-04D7-AB13-72BC-16977FB582EB}"/>
              </a:ext>
            </a:extLst>
          </p:cNvPr>
          <p:cNvSpPr/>
          <p:nvPr/>
        </p:nvSpPr>
        <p:spPr>
          <a:xfrm>
            <a:off x="6126480" y="3840480"/>
            <a:ext cx="2560320" cy="685800"/>
          </a:xfrm>
          <a:prstGeom prst="rect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17B3402-D913-66FC-ACF8-215E67C7CEE1}"/>
              </a:ext>
            </a:extLst>
          </p:cNvPr>
          <p:cNvSpPr/>
          <p:nvPr/>
        </p:nvSpPr>
        <p:spPr>
          <a:xfrm>
            <a:off x="6126480" y="3840480"/>
            <a:ext cx="54864" cy="68580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7F9A16D-E6C5-577E-F559-749959160A1E}"/>
              </a:ext>
            </a:extLst>
          </p:cNvPr>
          <p:cNvSpPr/>
          <p:nvPr/>
        </p:nvSpPr>
        <p:spPr>
          <a:xfrm>
            <a:off x="6309360" y="38404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Alert auslösen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83501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502920" cy="347472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2651760" cy="5486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13898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Service-Komposition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" y="187452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/>
              <a:t>Trennung</a:t>
            </a:r>
            <a:r>
              <a:rPr lang="en-US" sz="1200" dirty="0"/>
              <a:t> der Services vereinfacht Debugging und Wartung erheblich</a:t>
            </a:r>
          </a:p>
        </p:txBody>
      </p:sp>
      <p:sp>
        <p:nvSpPr>
          <p:cNvPr id="12" name="Shape 10"/>
          <p:cNvSpPr/>
          <p:nvPr/>
        </p:nvSpPr>
        <p:spPr>
          <a:xfrm>
            <a:off x="3246120" y="12801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3246120" y="1280160"/>
            <a:ext cx="2651760" cy="5486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3337560" y="13716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31920" y="13898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Externe APIs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55848" y="187452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Rate Limits und Verfügbarkeit externer APIs erfordern robuste Fehlerbehandlung</a:t>
            </a:r>
          </a:p>
        </p:txBody>
      </p:sp>
      <p:sp>
        <p:nvSpPr>
          <p:cNvPr id="17" name="Shape 15"/>
          <p:cNvSpPr/>
          <p:nvPr/>
        </p:nvSpPr>
        <p:spPr>
          <a:xfrm>
            <a:off x="6126480" y="12801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6126480" y="1280160"/>
            <a:ext cx="2651760" cy="5486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6217920" y="13716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13898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BPMN-First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6208" y="187452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Prozessmodellierung vor der Implementierung spart Zeit und vermeidet Missverständnisse</a:t>
            </a:r>
          </a:p>
        </p:txBody>
      </p:sp>
      <p:sp>
        <p:nvSpPr>
          <p:cNvPr id="22" name="Shape 20"/>
          <p:cNvSpPr/>
          <p:nvPr/>
        </p:nvSpPr>
        <p:spPr>
          <a:xfrm>
            <a:off x="365760" y="306324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365760" y="3063240"/>
            <a:ext cx="2651760" cy="54864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457200" y="31546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51560" y="31729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Teamarbeit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5488" y="365760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Klare Aufgabenverteilung und regelmäßige Absprachen sind entscheidend</a:t>
            </a:r>
          </a:p>
        </p:txBody>
      </p:sp>
      <p:sp>
        <p:nvSpPr>
          <p:cNvPr id="27" name="Shape 25"/>
          <p:cNvSpPr/>
          <p:nvPr/>
        </p:nvSpPr>
        <p:spPr>
          <a:xfrm>
            <a:off x="3246120" y="306324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3246120" y="3063240"/>
            <a:ext cx="2651760" cy="54864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3337560" y="31546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🐳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931920" y="31729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Docker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355848" y="365760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Containerisierung erleichtert Deployment und sorgt für konsistente Umgebungen</a:t>
            </a:r>
          </a:p>
        </p:txBody>
      </p:sp>
      <p:sp>
        <p:nvSpPr>
          <p:cNvPr id="32" name="Shape 30"/>
          <p:cNvSpPr/>
          <p:nvPr/>
        </p:nvSpPr>
        <p:spPr>
          <a:xfrm>
            <a:off x="6126480" y="306324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6126480" y="3063240"/>
            <a:ext cx="2651760" cy="54864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6217920" y="31546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812280" y="31729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Quarkus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36208" y="365760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Schnelle Startzeiten und geringer Ressourcenverbrauch überzeugen im Praxiseinsatz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486400" y="914400"/>
            <a:ext cx="4114800" cy="4114800"/>
          </a:xfrm>
          <a:prstGeom prst="ellipse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6400800" y="1645920"/>
            <a:ext cx="2560320" cy="2560320"/>
          </a:xfrm>
          <a:prstGeom prst="ellipse">
            <a:avLst/>
          </a:prstGeom>
          <a:solidFill>
            <a:srgbClr val="0D204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FA5"/>
                </a:solidFill>
              </a:rPr>
              <a:t>John Hohn  ·  Simon Hopfhauer  ·  Tilman Voit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4070"/>
                </a:solidFill>
              </a:rPr>
              <a:t>DHBW Mosbach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629</Words>
  <Application>Microsoft Macintosh PowerPoint</Application>
  <PresentationFormat>Bildschirmpräsentation (16:9)</PresentationFormat>
  <Paragraphs>203</Paragraphs>
  <Slides>19</Slides>
  <Notes>19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John Hohn</cp:lastModifiedBy>
  <cp:revision>42</cp:revision>
  <dcterms:created xsi:type="dcterms:W3CDTF">2026-03-10T14:36:51Z</dcterms:created>
  <dcterms:modified xsi:type="dcterms:W3CDTF">2026-03-12T20:51:42Z</dcterms:modified>
</cp:coreProperties>
</file>